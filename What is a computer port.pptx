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4" r:id="rId6"/>
    <p:sldId id="265" r:id="rId7"/>
    <p:sldId id="266" r:id="rId8"/>
    <p:sldId id="260" r:id="rId9"/>
    <p:sldId id="261" r:id="rId10"/>
    <p:sldId id="262" r:id="rId11"/>
    <p:sldId id="267" r:id="rId12"/>
    <p:sldId id="268" r:id="rId13"/>
    <p:sldId id="269" r:id="rId14"/>
    <p:sldId id="263"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08"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E7685FA4-6547-433C-A8B0-5F293A5B828C}" type="datetimeFigureOut">
              <a:rPr lang="en-IN" smtClean="0"/>
              <a:t>21-04-2025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1A178ED-4D8A-41FF-A602-11C06F8C221C}" type="slidenum">
              <a:rPr lang="en-IN" smtClean="0"/>
              <a:t>‹#›</a:t>
            </a:fld>
            <a:endParaRPr lang="en-IN"/>
          </a:p>
        </p:txBody>
      </p:sp>
    </p:spTree>
    <p:extLst>
      <p:ext uri="{BB962C8B-B14F-4D97-AF65-F5344CB8AC3E}">
        <p14:creationId xmlns:p14="http://schemas.microsoft.com/office/powerpoint/2010/main" val="431386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7685FA4-6547-433C-A8B0-5F293A5B828C}" type="datetimeFigureOut">
              <a:rPr lang="en-IN" smtClean="0"/>
              <a:t>21-04-2025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1A178ED-4D8A-41FF-A602-11C06F8C221C}" type="slidenum">
              <a:rPr lang="en-IN" smtClean="0"/>
              <a:t>‹#›</a:t>
            </a:fld>
            <a:endParaRPr lang="en-IN"/>
          </a:p>
        </p:txBody>
      </p:sp>
    </p:spTree>
    <p:extLst>
      <p:ext uri="{BB962C8B-B14F-4D97-AF65-F5344CB8AC3E}">
        <p14:creationId xmlns:p14="http://schemas.microsoft.com/office/powerpoint/2010/main" val="2383970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7685FA4-6547-433C-A8B0-5F293A5B828C}" type="datetimeFigureOut">
              <a:rPr lang="en-IN" smtClean="0"/>
              <a:t>21-04-2025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1A178ED-4D8A-41FF-A602-11C06F8C221C}" type="slidenum">
              <a:rPr lang="en-IN" smtClean="0"/>
              <a:t>‹#›</a:t>
            </a:fld>
            <a:endParaRPr lang="en-IN"/>
          </a:p>
        </p:txBody>
      </p:sp>
    </p:spTree>
    <p:extLst>
      <p:ext uri="{BB962C8B-B14F-4D97-AF65-F5344CB8AC3E}">
        <p14:creationId xmlns:p14="http://schemas.microsoft.com/office/powerpoint/2010/main" val="800408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E7685FA4-6547-433C-A8B0-5F293A5B828C}" type="datetimeFigureOut">
              <a:rPr lang="en-IN" smtClean="0"/>
              <a:t>21-04-2025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1A178ED-4D8A-41FF-A602-11C06F8C221C}" type="slidenum">
              <a:rPr lang="en-IN" smtClean="0"/>
              <a:t>‹#›</a:t>
            </a:fld>
            <a:endParaRPr lang="en-IN"/>
          </a:p>
        </p:txBody>
      </p:sp>
    </p:spTree>
    <p:extLst>
      <p:ext uri="{BB962C8B-B14F-4D97-AF65-F5344CB8AC3E}">
        <p14:creationId xmlns:p14="http://schemas.microsoft.com/office/powerpoint/2010/main" val="655001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E7685FA4-6547-433C-A8B0-5F293A5B828C}" type="datetimeFigureOut">
              <a:rPr lang="en-IN" smtClean="0"/>
              <a:t>21-04-2025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1A178ED-4D8A-41FF-A602-11C06F8C221C}" type="slidenum">
              <a:rPr lang="en-IN" smtClean="0"/>
              <a:t>‹#›</a:t>
            </a:fld>
            <a:endParaRPr lang="en-IN"/>
          </a:p>
        </p:txBody>
      </p:sp>
    </p:spTree>
    <p:extLst>
      <p:ext uri="{BB962C8B-B14F-4D97-AF65-F5344CB8AC3E}">
        <p14:creationId xmlns:p14="http://schemas.microsoft.com/office/powerpoint/2010/main" val="778679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E7685FA4-6547-433C-A8B0-5F293A5B828C}" type="datetimeFigureOut">
              <a:rPr lang="en-IN" smtClean="0"/>
              <a:t>21-04-2025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1A178ED-4D8A-41FF-A602-11C06F8C221C}" type="slidenum">
              <a:rPr lang="en-IN" smtClean="0"/>
              <a:t>‹#›</a:t>
            </a:fld>
            <a:endParaRPr lang="en-IN"/>
          </a:p>
        </p:txBody>
      </p:sp>
    </p:spTree>
    <p:extLst>
      <p:ext uri="{BB962C8B-B14F-4D97-AF65-F5344CB8AC3E}">
        <p14:creationId xmlns:p14="http://schemas.microsoft.com/office/powerpoint/2010/main" val="35711492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685FA4-6547-433C-A8B0-5F293A5B828C}" type="datetimeFigureOut">
              <a:rPr lang="en-IN" smtClean="0"/>
              <a:t>21-04-2025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1A178ED-4D8A-41FF-A602-11C06F8C221C}" type="slidenum">
              <a:rPr lang="en-IN" smtClean="0"/>
              <a:t>‹#›</a:t>
            </a:fld>
            <a:endParaRPr lang="en-IN"/>
          </a:p>
        </p:txBody>
      </p:sp>
    </p:spTree>
    <p:extLst>
      <p:ext uri="{BB962C8B-B14F-4D97-AF65-F5344CB8AC3E}">
        <p14:creationId xmlns:p14="http://schemas.microsoft.com/office/powerpoint/2010/main" val="3322439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7685FA4-6547-433C-A8B0-5F293A5B828C}" type="datetimeFigureOut">
              <a:rPr lang="en-IN" smtClean="0"/>
              <a:t>21-04-2025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1A178ED-4D8A-41FF-A602-11C06F8C221C}" type="slidenum">
              <a:rPr lang="en-IN" smtClean="0"/>
              <a:t>‹#›</a:t>
            </a:fld>
            <a:endParaRPr lang="en-IN"/>
          </a:p>
        </p:txBody>
      </p:sp>
    </p:spTree>
    <p:extLst>
      <p:ext uri="{BB962C8B-B14F-4D97-AF65-F5344CB8AC3E}">
        <p14:creationId xmlns:p14="http://schemas.microsoft.com/office/powerpoint/2010/main" val="1873011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7685FA4-6547-433C-A8B0-5F293A5B828C}" type="datetimeFigureOut">
              <a:rPr lang="en-IN" smtClean="0"/>
              <a:t>21-04-2025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1A178ED-4D8A-41FF-A602-11C06F8C221C}" type="slidenum">
              <a:rPr lang="en-IN" smtClean="0"/>
              <a:t>‹#›</a:t>
            </a:fld>
            <a:endParaRPr lang="en-IN"/>
          </a:p>
        </p:txBody>
      </p:sp>
    </p:spTree>
    <p:extLst>
      <p:ext uri="{BB962C8B-B14F-4D97-AF65-F5344CB8AC3E}">
        <p14:creationId xmlns:p14="http://schemas.microsoft.com/office/powerpoint/2010/main" val="2996456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7685FA4-6547-433C-A8B0-5F293A5B828C}" type="datetimeFigureOut">
              <a:rPr lang="en-IN" smtClean="0"/>
              <a:t>21-04-2025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1A178ED-4D8A-41FF-A602-11C06F8C221C}" type="slidenum">
              <a:rPr lang="en-IN" smtClean="0"/>
              <a:t>‹#›</a:t>
            </a:fld>
            <a:endParaRPr lang="en-IN"/>
          </a:p>
        </p:txBody>
      </p:sp>
    </p:spTree>
    <p:extLst>
      <p:ext uri="{BB962C8B-B14F-4D97-AF65-F5344CB8AC3E}">
        <p14:creationId xmlns:p14="http://schemas.microsoft.com/office/powerpoint/2010/main" val="856682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7685FA4-6547-433C-A8B0-5F293A5B828C}" type="datetimeFigureOut">
              <a:rPr lang="en-IN" smtClean="0"/>
              <a:t>21-04-2025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1A178ED-4D8A-41FF-A602-11C06F8C221C}" type="slidenum">
              <a:rPr lang="en-IN" smtClean="0"/>
              <a:t>‹#›</a:t>
            </a:fld>
            <a:endParaRPr lang="en-IN"/>
          </a:p>
        </p:txBody>
      </p:sp>
    </p:spTree>
    <p:extLst>
      <p:ext uri="{BB962C8B-B14F-4D97-AF65-F5344CB8AC3E}">
        <p14:creationId xmlns:p14="http://schemas.microsoft.com/office/powerpoint/2010/main" val="332097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685FA4-6547-433C-A8B0-5F293A5B828C}" type="datetimeFigureOut">
              <a:rPr lang="en-IN" smtClean="0"/>
              <a:t>21-04-2025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A178ED-4D8A-41FF-A602-11C06F8C221C}" type="slidenum">
              <a:rPr lang="en-IN" smtClean="0"/>
              <a:t>‹#›</a:t>
            </a:fld>
            <a:endParaRPr lang="en-IN"/>
          </a:p>
        </p:txBody>
      </p:sp>
    </p:spTree>
    <p:extLst>
      <p:ext uri="{BB962C8B-B14F-4D97-AF65-F5344CB8AC3E}">
        <p14:creationId xmlns:p14="http://schemas.microsoft.com/office/powerpoint/2010/main" val="11170581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cloudflare.com/learning/ddos/glossary/open-systems-interconnection-model-osi/"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cloudflare.com/learning/ddos/glossary/user-datagram-protocol-udp/" TargetMode="External"/><Relationship Id="rId2" Type="http://schemas.openxmlformats.org/officeDocument/2006/relationships/hyperlink" Target="https://www.cloudflare.com/learning/ddos/glossary/tcp-ip/" TargetMode="External"/><Relationship Id="rId1" Type="http://schemas.openxmlformats.org/officeDocument/2006/relationships/slideLayout" Target="../slideLayouts/slideLayout2.xml"/><Relationship Id="rId6" Type="http://schemas.openxmlformats.org/officeDocument/2006/relationships/hyperlink" Target="https://www.cloudflare.com/learning/network-layer/what-is-a-packet/" TargetMode="External"/><Relationship Id="rId5" Type="http://schemas.openxmlformats.org/officeDocument/2006/relationships/hyperlink" Target="https://www.cloudflare.com/learning/network-layer/internet-protocol/" TargetMode="External"/><Relationship Id="rId4" Type="http://schemas.openxmlformats.org/officeDocument/2006/relationships/hyperlink" Target="https://www.cloudflare.com/learning/network-layer/what-is-the-network-layer/" TargetMode="External"/></Relationships>
</file>

<file path=ppt/slides/_rels/slide9.xml.rels><?xml version="1.0" encoding="UTF-8" standalone="yes"?>
<Relationships xmlns="http://schemas.openxmlformats.org/package/2006/relationships"><Relationship Id="rId2" Type="http://schemas.openxmlformats.org/officeDocument/2006/relationships/hyperlink" Target="https://www.cloudflare.com/learning/ddos/glossary/internet-control-message-protocol-icmp/"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cloudflare.com/learning/email-security/smtp-port-25-587/" TargetMode="External"/><Relationship Id="rId7" Type="http://schemas.openxmlformats.org/officeDocument/2006/relationships/hyperlink" Target="https://www.cloudflare.com/learning/dns/glossary/what-is-a-domain-name/" TargetMode="External"/><Relationship Id="rId2" Type="http://schemas.openxmlformats.org/officeDocument/2006/relationships/hyperlink" Target="https://www.cloudflare.com/learning/network-layer/what-is-tunneling/" TargetMode="External"/><Relationship Id="rId1" Type="http://schemas.openxmlformats.org/officeDocument/2006/relationships/slideLayout" Target="../slideLayouts/slideLayout2.xml"/><Relationship Id="rId6" Type="http://schemas.openxmlformats.org/officeDocument/2006/relationships/hyperlink" Target="https://www.cloudflare.com/learning/dns/what-is-dns/" TargetMode="External"/><Relationship Id="rId5" Type="http://schemas.openxmlformats.org/officeDocument/2006/relationships/hyperlink" Target="https://www.cloudflare.com/learning/email-security/what-is-email/" TargetMode="External"/><Relationship Id="rId4" Type="http://schemas.openxmlformats.org/officeDocument/2006/relationships/hyperlink" Target="https://www.cloudflare.com/learning/email-security/what-is-smtp/" TargetMode="External"/></Relationships>
</file>

<file path=ppt/slides/_rels/slide15.xml.rels><?xml version="1.0" encoding="UTF-8" standalone="yes"?>
<Relationships xmlns="http://schemas.openxmlformats.org/package/2006/relationships"><Relationship Id="rId8" Type="http://schemas.openxmlformats.org/officeDocument/2006/relationships/hyperlink" Target="https://www.cloudflare.com/learning/network-layer/what-is-ipsec/" TargetMode="External"/><Relationship Id="rId3" Type="http://schemas.openxmlformats.org/officeDocument/2006/relationships/hyperlink" Target="https://www.cloudflare.com/learning/ssl/what-is-encryption/" TargetMode="External"/><Relationship Id="rId7" Type="http://schemas.openxmlformats.org/officeDocument/2006/relationships/hyperlink" Target="https://www.cloudflare.com/learning/dns/dns-over-tls/" TargetMode="External"/><Relationship Id="rId2" Type="http://schemas.openxmlformats.org/officeDocument/2006/relationships/hyperlink" Target="https://blog.cloudflare.com/secure-time/" TargetMode="External"/><Relationship Id="rId1" Type="http://schemas.openxmlformats.org/officeDocument/2006/relationships/slideLayout" Target="../slideLayouts/slideLayout2.xml"/><Relationship Id="rId6" Type="http://schemas.openxmlformats.org/officeDocument/2006/relationships/hyperlink" Target="https://www.cloudflare.com/learning/ssl/what-is-https/" TargetMode="External"/><Relationship Id="rId5" Type="http://schemas.openxmlformats.org/officeDocument/2006/relationships/hyperlink" Target="https://www.cloudflare.com/learning/network-layer/what-is-an-autonomous-system/" TargetMode="External"/><Relationship Id="rId4" Type="http://schemas.openxmlformats.org/officeDocument/2006/relationships/hyperlink" Target="https://www.cloudflare.com/learning/security/glossary/what-is-bgp/" TargetMode="External"/><Relationship Id="rId9" Type="http://schemas.openxmlformats.org/officeDocument/2006/relationships/hyperlink" Target="https://www.cloudflare.com/learning/access-management/what-is-the-remote-desktop-protoco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What is a computer port? | Ports in networking</a:t>
            </a:r>
            <a:endParaRPr lang="en-IN" b="1"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28004866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just"/>
            <a:r>
              <a:rPr lang="en-US" b="1" dirty="0" smtClean="0"/>
              <a:t>Ports are virtual places within an operating system where network connections start and end. They help computers sort the network traffic they receive.</a:t>
            </a:r>
            <a:endParaRPr lang="en-IN" b="1" dirty="0"/>
          </a:p>
        </p:txBody>
      </p:sp>
    </p:spTree>
    <p:extLst>
      <p:ext uri="{BB962C8B-B14F-4D97-AF65-F5344CB8AC3E}">
        <p14:creationId xmlns:p14="http://schemas.microsoft.com/office/powerpoint/2010/main" val="3064573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What is a port?</a:t>
            </a:r>
            <a:r>
              <a:rPr lang="en-IN" dirty="0" smtClean="0"/>
              <a:t/>
            </a:r>
            <a:br>
              <a:rPr lang="en-IN" dirty="0" smtClean="0"/>
            </a:br>
            <a:endParaRPr lang="en-IN" dirty="0"/>
          </a:p>
        </p:txBody>
      </p:sp>
      <p:sp>
        <p:nvSpPr>
          <p:cNvPr id="3" name="Content Placeholder 2"/>
          <p:cNvSpPr>
            <a:spLocks noGrp="1"/>
          </p:cNvSpPr>
          <p:nvPr>
            <p:ph idx="1"/>
          </p:nvPr>
        </p:nvSpPr>
        <p:spPr/>
        <p:txBody>
          <a:bodyPr/>
          <a:lstStyle/>
          <a:p>
            <a:pPr algn="just"/>
            <a:r>
              <a:rPr lang="en-US" dirty="0" smtClean="0"/>
              <a:t>A port is a virtual point where network connections start and end. Ports are software-based and managed by a computer's operating system. Each port is associated with a specific process or service. Ports allow computers to easily differentiate between different kinds of traffic: emails go to a different port than webpages, for instance, even though both reach a computer over the same Internet connection.</a:t>
            </a:r>
            <a:endParaRPr lang="en-IN" dirty="0"/>
          </a:p>
        </p:txBody>
      </p:sp>
    </p:spTree>
    <p:extLst>
      <p:ext uri="{BB962C8B-B14F-4D97-AF65-F5344CB8AC3E}">
        <p14:creationId xmlns:p14="http://schemas.microsoft.com/office/powerpoint/2010/main" val="2457977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What is a port number?</a:t>
            </a:r>
            <a:r>
              <a:rPr lang="en-US" dirty="0" smtClean="0"/>
              <a:t/>
            </a:r>
            <a:br>
              <a:rPr lang="en-US" dirty="0" smtClean="0"/>
            </a:br>
            <a:endParaRPr lang="en-IN" dirty="0"/>
          </a:p>
        </p:txBody>
      </p:sp>
      <p:sp>
        <p:nvSpPr>
          <p:cNvPr id="3" name="Content Placeholder 2"/>
          <p:cNvSpPr>
            <a:spLocks noGrp="1"/>
          </p:cNvSpPr>
          <p:nvPr>
            <p:ph idx="1"/>
          </p:nvPr>
        </p:nvSpPr>
        <p:spPr/>
        <p:txBody>
          <a:bodyPr/>
          <a:lstStyle/>
          <a:p>
            <a:pPr algn="just"/>
            <a:r>
              <a:rPr lang="en-US" dirty="0" smtClean="0"/>
              <a:t>Ports are standardized across all network-connected devices, with each port assigned a number. Most ports are reserved for certain protocols — for example, all Hypertext Transfer Protocol (HTTP) messages go to port 80. While IP addresses enable messages to go to and from specific devices, port numbers allow targeting of specific services or applications within those devices.</a:t>
            </a:r>
            <a:endParaRPr lang="en-IN" dirty="0"/>
          </a:p>
        </p:txBody>
      </p:sp>
    </p:spTree>
    <p:extLst>
      <p:ext uri="{BB962C8B-B14F-4D97-AF65-F5344CB8AC3E}">
        <p14:creationId xmlns:p14="http://schemas.microsoft.com/office/powerpoint/2010/main" val="4503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5680" y="426085"/>
            <a:ext cx="11196320" cy="1325563"/>
          </a:xfrm>
        </p:spPr>
        <p:txBody>
          <a:bodyPr>
            <a:normAutofit fontScale="90000"/>
          </a:bodyPr>
          <a:lstStyle/>
          <a:p>
            <a:r>
              <a:rPr lang="en-US" b="1" dirty="0" smtClean="0"/>
              <a:t>How do ports make network connections more efficient?</a:t>
            </a:r>
            <a:r>
              <a:rPr lang="en-US" dirty="0" smtClean="0"/>
              <a:t/>
            </a:r>
            <a:br>
              <a:rPr lang="en-US" dirty="0" smtClean="0"/>
            </a:br>
            <a:endParaRPr lang="en-IN" dirty="0"/>
          </a:p>
        </p:txBody>
      </p:sp>
      <p:sp>
        <p:nvSpPr>
          <p:cNvPr id="3" name="Content Placeholder 2"/>
          <p:cNvSpPr>
            <a:spLocks noGrp="1"/>
          </p:cNvSpPr>
          <p:nvPr>
            <p:ph idx="1"/>
          </p:nvPr>
        </p:nvSpPr>
        <p:spPr/>
        <p:txBody>
          <a:bodyPr>
            <a:normAutofit fontScale="85000" lnSpcReduction="20000"/>
          </a:bodyPr>
          <a:lstStyle/>
          <a:p>
            <a:pPr algn="just"/>
            <a:r>
              <a:rPr lang="en-US" dirty="0" smtClean="0"/>
              <a:t>Vastly different types of data flow to and from a computer over the same network connection. The use of ports helps computers understand what to do with the data they receive.</a:t>
            </a:r>
          </a:p>
          <a:p>
            <a:pPr algn="just"/>
            <a:endParaRPr lang="en-US" dirty="0" smtClean="0"/>
          </a:p>
          <a:p>
            <a:pPr algn="just"/>
            <a:r>
              <a:rPr lang="en-US" dirty="0" smtClean="0"/>
              <a:t>Suppose Bob transfers an MP3 audio recording to Alice using the File Transfer Protocol (FTP). If Alice's computer passed the MP3 file data to Alice's email application, the email application would not know how to interpret it. But because Bob's file transfer uses the port designated for FTP (port 21), Alice's computer is able to receive and store the file.</a:t>
            </a:r>
          </a:p>
          <a:p>
            <a:pPr algn="just"/>
            <a:endParaRPr lang="en-US" dirty="0" smtClean="0"/>
          </a:p>
          <a:p>
            <a:pPr algn="just"/>
            <a:r>
              <a:rPr lang="en-US" dirty="0" smtClean="0"/>
              <a:t>Meanwhile, Alice's computer can simultaneously load HTTP webpages using port 80, even though both the webpage files and the MP3 sound file flow to Alice's computer over the same </a:t>
            </a:r>
            <a:r>
              <a:rPr lang="en-US" dirty="0" err="1" smtClean="0"/>
              <a:t>WiFi</a:t>
            </a:r>
            <a:r>
              <a:rPr lang="en-US" dirty="0" smtClean="0"/>
              <a:t> connection.</a:t>
            </a:r>
            <a:endParaRPr lang="en-IN" dirty="0"/>
          </a:p>
        </p:txBody>
      </p:sp>
    </p:spTree>
    <p:extLst>
      <p:ext uri="{BB962C8B-B14F-4D97-AF65-F5344CB8AC3E}">
        <p14:creationId xmlns:p14="http://schemas.microsoft.com/office/powerpoint/2010/main" val="4028999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Are ports part of the network layer?</a:t>
            </a:r>
            <a:br>
              <a:rPr lang="en-US" b="1" dirty="0"/>
            </a:br>
            <a:endParaRPr lang="en-IN" dirty="0"/>
          </a:p>
        </p:txBody>
      </p:sp>
      <p:sp>
        <p:nvSpPr>
          <p:cNvPr id="3" name="Content Placeholder 2"/>
          <p:cNvSpPr>
            <a:spLocks noGrp="1"/>
          </p:cNvSpPr>
          <p:nvPr>
            <p:ph idx="1"/>
          </p:nvPr>
        </p:nvSpPr>
        <p:spPr/>
        <p:txBody>
          <a:bodyPr/>
          <a:lstStyle/>
          <a:p>
            <a:r>
              <a:rPr lang="en-US" dirty="0"/>
              <a:t>The </a:t>
            </a:r>
            <a:r>
              <a:rPr lang="en-US" dirty="0">
                <a:hlinkClick r:id="rId2"/>
              </a:rPr>
              <a:t>OSI model</a:t>
            </a:r>
            <a:r>
              <a:rPr lang="en-US" dirty="0"/>
              <a:t> is a conceptual model of how the Internet works. It divides different Internet services and processes into 7 layers. These layers are:</a:t>
            </a:r>
            <a:endParaRPr lang="en-IN" dirty="0"/>
          </a:p>
        </p:txBody>
      </p:sp>
    </p:spTree>
    <p:extLst>
      <p:ext uri="{BB962C8B-B14F-4D97-AF65-F5344CB8AC3E}">
        <p14:creationId xmlns:p14="http://schemas.microsoft.com/office/powerpoint/2010/main" val="1660453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771209" y="-94616"/>
            <a:ext cx="10547031" cy="6816155"/>
          </a:xfrm>
          <a:prstGeom prst="rect">
            <a:avLst/>
          </a:prstGeom>
        </p:spPr>
      </p:pic>
    </p:spTree>
    <p:extLst>
      <p:ext uri="{BB962C8B-B14F-4D97-AF65-F5344CB8AC3E}">
        <p14:creationId xmlns:p14="http://schemas.microsoft.com/office/powerpoint/2010/main" val="83457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75920"/>
            <a:ext cx="10896600" cy="5801043"/>
          </a:xfrm>
        </p:spPr>
        <p:txBody>
          <a:bodyPr/>
          <a:lstStyle/>
          <a:p>
            <a:pPr algn="just"/>
            <a:r>
              <a:rPr lang="en-US" dirty="0"/>
              <a:t>Ports are a transport layer (layer 4) concept. Only a transport protocol such as the </a:t>
            </a:r>
            <a:r>
              <a:rPr lang="en-US" dirty="0">
                <a:hlinkClick r:id="rId2"/>
              </a:rPr>
              <a:t>Transmission Control Protocol (TCP)</a:t>
            </a:r>
            <a:r>
              <a:rPr lang="en-US" dirty="0"/>
              <a:t> or </a:t>
            </a:r>
            <a:r>
              <a:rPr lang="en-US" dirty="0">
                <a:hlinkClick r:id="rId3"/>
              </a:rPr>
              <a:t>User Datagram Protocol (UDP)</a:t>
            </a:r>
            <a:r>
              <a:rPr lang="en-US" dirty="0"/>
              <a:t> can indicate which port a packet should go to</a:t>
            </a:r>
            <a:r>
              <a:rPr lang="en-US" dirty="0" smtClean="0"/>
              <a:t>.</a:t>
            </a:r>
          </a:p>
          <a:p>
            <a:pPr algn="just"/>
            <a:r>
              <a:rPr lang="en-US" dirty="0" smtClean="0"/>
              <a:t> </a:t>
            </a:r>
            <a:r>
              <a:rPr lang="en-US" dirty="0"/>
              <a:t>TCP and UDP headers have a section for indicating port numbers. </a:t>
            </a:r>
            <a:r>
              <a:rPr lang="en-US" dirty="0">
                <a:hlinkClick r:id="rId4"/>
              </a:rPr>
              <a:t>Network layer</a:t>
            </a:r>
            <a:r>
              <a:rPr lang="en-US" dirty="0"/>
              <a:t> protocols — for instance, the </a:t>
            </a:r>
            <a:r>
              <a:rPr lang="en-US" dirty="0">
                <a:hlinkClick r:id="rId5"/>
              </a:rPr>
              <a:t>Internet Protocol (IP)</a:t>
            </a:r>
            <a:r>
              <a:rPr lang="en-US" dirty="0"/>
              <a:t> — are unaware of what port is in use in a given network connection. </a:t>
            </a:r>
            <a:endParaRPr lang="en-US" dirty="0" smtClean="0"/>
          </a:p>
          <a:p>
            <a:pPr algn="just"/>
            <a:r>
              <a:rPr lang="en-US" dirty="0" smtClean="0"/>
              <a:t>In </a:t>
            </a:r>
            <a:r>
              <a:rPr lang="en-US" dirty="0"/>
              <a:t>a standard IP header, there is no place to indicate which port the data </a:t>
            </a:r>
            <a:r>
              <a:rPr lang="en-US" dirty="0">
                <a:hlinkClick r:id="rId6"/>
              </a:rPr>
              <a:t>packet</a:t>
            </a:r>
            <a:r>
              <a:rPr lang="en-US" dirty="0"/>
              <a:t> should go to. IP headers only indicate the destination IP address, not the port number at that IP address.</a:t>
            </a:r>
            <a:endParaRPr lang="en-IN" dirty="0"/>
          </a:p>
        </p:txBody>
      </p:sp>
    </p:spTree>
    <p:extLst>
      <p:ext uri="{BB962C8B-B14F-4D97-AF65-F5344CB8AC3E}">
        <p14:creationId xmlns:p14="http://schemas.microsoft.com/office/powerpoint/2010/main" val="261750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9280" y="690880"/>
            <a:ext cx="10764520" cy="5486083"/>
          </a:xfrm>
        </p:spPr>
        <p:txBody>
          <a:bodyPr/>
          <a:lstStyle/>
          <a:p>
            <a:pPr algn="just"/>
            <a:r>
              <a:rPr lang="en-US" dirty="0"/>
              <a:t>Usually, the inability to indicate the port at the network layer has no impact on networking processes, since network layer protocols are almost always used in conjunction with a transport layer protocol. </a:t>
            </a:r>
            <a:endParaRPr lang="en-US" dirty="0" smtClean="0"/>
          </a:p>
          <a:p>
            <a:pPr algn="just"/>
            <a:r>
              <a:rPr lang="en-US" dirty="0" smtClean="0"/>
              <a:t>However</a:t>
            </a:r>
            <a:r>
              <a:rPr lang="en-US" dirty="0"/>
              <a:t>, this does impact the functionality of testing software, which is software that "pings" IP addresses using </a:t>
            </a:r>
            <a:r>
              <a:rPr lang="en-US" dirty="0">
                <a:hlinkClick r:id="rId2"/>
              </a:rPr>
              <a:t>Internet Control Message Protocol (ICMP)</a:t>
            </a:r>
            <a:r>
              <a:rPr lang="en-US" dirty="0"/>
              <a:t> packets. </a:t>
            </a:r>
            <a:endParaRPr lang="en-US" dirty="0" smtClean="0"/>
          </a:p>
          <a:p>
            <a:pPr algn="just"/>
            <a:r>
              <a:rPr lang="en-US" dirty="0" smtClean="0"/>
              <a:t>ICMP </a:t>
            </a:r>
            <a:r>
              <a:rPr lang="en-US" dirty="0"/>
              <a:t>is a network layer protocol that can ping networked devices — but without the ability to ping specific ports, network administrators cannot test specific services within those devices.</a:t>
            </a:r>
            <a:endParaRPr lang="en-IN" dirty="0"/>
          </a:p>
        </p:txBody>
      </p:sp>
    </p:spTree>
    <p:extLst>
      <p:ext uri="{BB962C8B-B14F-4D97-AF65-F5344CB8AC3E}">
        <p14:creationId xmlns:p14="http://schemas.microsoft.com/office/powerpoint/2010/main" val="134642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Some ping software, such as My Traceroute, offers the option to send UDP packets. UDP is a transport layer protocol that can specify a particular port, as opposed to ICMP, which cannot specify a port. </a:t>
            </a:r>
          </a:p>
          <a:p>
            <a:r>
              <a:rPr lang="en-US" dirty="0" smtClean="0"/>
              <a:t>By adding a UDP header to ICMP packets, network administrators can test specific ports within a networked device.</a:t>
            </a:r>
            <a:endParaRPr lang="en-IN" dirty="0"/>
          </a:p>
        </p:txBody>
      </p:sp>
    </p:spTree>
    <p:extLst>
      <p:ext uri="{BB962C8B-B14F-4D97-AF65-F5344CB8AC3E}">
        <p14:creationId xmlns:p14="http://schemas.microsoft.com/office/powerpoint/2010/main" val="2141938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do firewalls sometimes block specific ports?</a:t>
            </a:r>
            <a:endParaRPr lang="en-IN" dirty="0"/>
          </a:p>
        </p:txBody>
      </p:sp>
      <p:sp>
        <p:nvSpPr>
          <p:cNvPr id="3" name="Content Placeholder 2"/>
          <p:cNvSpPr>
            <a:spLocks noGrp="1"/>
          </p:cNvSpPr>
          <p:nvPr>
            <p:ph idx="1"/>
          </p:nvPr>
        </p:nvSpPr>
        <p:spPr/>
        <p:txBody>
          <a:bodyPr>
            <a:normAutofit fontScale="92500" lnSpcReduction="20000"/>
          </a:bodyPr>
          <a:lstStyle/>
          <a:p>
            <a:pPr algn="just"/>
            <a:r>
              <a:rPr lang="en-US" dirty="0" smtClean="0"/>
              <a:t>A firewall is a network security system that blocks or allows network traffic based on a set of security rules. Firewalls usually sit between a trusted network and an untrusted network; often the untrusted network is the Internet. For example, office networks often use a firewall to protect their network from online threats.</a:t>
            </a:r>
          </a:p>
          <a:p>
            <a:pPr algn="just"/>
            <a:endParaRPr lang="en-US" dirty="0" smtClean="0"/>
          </a:p>
          <a:p>
            <a:pPr algn="just"/>
            <a:r>
              <a:rPr lang="en-US" dirty="0" smtClean="0"/>
              <a:t>Some attackers try to send malicious traffic to random ports in the hopes that those ports have been left "open," meaning they are able to receive traffic. This action is somewhat like a car thief walking down the street and trying the doors of parked vehicles, hoping one of them is unlocked. For this reason, firewalls should be configured to block network traffic directed at most of the available ports. There is no legitimate reason for the vast majority of the available ports to receive traffic.</a:t>
            </a:r>
          </a:p>
          <a:p>
            <a:pPr algn="just"/>
            <a:endParaRPr lang="en-US" dirty="0" smtClean="0"/>
          </a:p>
        </p:txBody>
      </p:sp>
    </p:spTree>
    <p:extLst>
      <p:ext uri="{BB962C8B-B14F-4D97-AF65-F5344CB8AC3E}">
        <p14:creationId xmlns:p14="http://schemas.microsoft.com/office/powerpoint/2010/main" val="1857350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8960" y="711200"/>
            <a:ext cx="10784840" cy="5465763"/>
          </a:xfrm>
        </p:spPr>
        <p:txBody>
          <a:bodyPr>
            <a:normAutofit/>
          </a:bodyPr>
          <a:lstStyle/>
          <a:p>
            <a:pPr algn="just"/>
            <a:r>
              <a:rPr lang="en-US" dirty="0" smtClean="0"/>
              <a:t>Properly configured firewalls block traffic to all ports by default except for a few predetermined ports known to be in common use. For instance, a corporate firewall could only leave open ports 25 (email), 80 (web traffic), 443 (web traffic), and a few others, allowing internal employees to use these essential services, then block the rest of the 65,000+ ports.</a:t>
            </a:r>
          </a:p>
          <a:p>
            <a:pPr algn="just"/>
            <a:endParaRPr lang="en-US" dirty="0" smtClean="0"/>
          </a:p>
          <a:p>
            <a:pPr algn="just"/>
            <a:r>
              <a:rPr lang="en-US" dirty="0" smtClean="0"/>
              <a:t>As a more specific example, attackers sometimes attempt to exploit vulnerabilities in the RDP protocol by sending attack traffic to port 3389. To stop these attacks, a firewall may block port 3389 by default. Since this port is only used for remote desktop connections, such a rule has little impact on day-to-day business operations unless employees need to work remotely.</a:t>
            </a:r>
            <a:endParaRPr lang="en-IN" dirty="0" smtClean="0"/>
          </a:p>
          <a:p>
            <a:pPr algn="just"/>
            <a:endParaRPr lang="en-IN" dirty="0"/>
          </a:p>
        </p:txBody>
      </p:sp>
    </p:spTree>
    <p:extLst>
      <p:ext uri="{BB962C8B-B14F-4D97-AF65-F5344CB8AC3E}">
        <p14:creationId xmlns:p14="http://schemas.microsoft.com/office/powerpoint/2010/main" val="2915426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are the different port numbers?</a:t>
            </a:r>
            <a:br>
              <a:rPr lang="en-US" b="1" dirty="0"/>
            </a:br>
            <a:endParaRPr lang="en-IN" dirty="0"/>
          </a:p>
        </p:txBody>
      </p:sp>
      <p:sp>
        <p:nvSpPr>
          <p:cNvPr id="3" name="Content Placeholder 2"/>
          <p:cNvSpPr>
            <a:spLocks noGrp="1"/>
          </p:cNvSpPr>
          <p:nvPr>
            <p:ph idx="1"/>
          </p:nvPr>
        </p:nvSpPr>
        <p:spPr/>
        <p:txBody>
          <a:bodyPr/>
          <a:lstStyle/>
          <a:p>
            <a:pPr algn="just"/>
            <a:r>
              <a:rPr lang="en-US" dirty="0"/>
              <a:t>There are 65,535 possible port numbers, although not all are in common use. Some of the most commonly used ports, along with their associated networking protocol, are</a:t>
            </a:r>
            <a:r>
              <a:rPr lang="en-US" dirty="0" smtClean="0"/>
              <a:t>:</a:t>
            </a:r>
          </a:p>
          <a:p>
            <a:pPr algn="just"/>
            <a:endParaRPr lang="en-IN" dirty="0"/>
          </a:p>
        </p:txBody>
      </p:sp>
    </p:spTree>
    <p:extLst>
      <p:ext uri="{BB962C8B-B14F-4D97-AF65-F5344CB8AC3E}">
        <p14:creationId xmlns:p14="http://schemas.microsoft.com/office/powerpoint/2010/main" val="955176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9280" y="711200"/>
            <a:ext cx="10764520" cy="5465763"/>
          </a:xfrm>
        </p:spPr>
        <p:txBody>
          <a:bodyPr>
            <a:normAutofit/>
          </a:bodyPr>
          <a:lstStyle/>
          <a:p>
            <a:r>
              <a:rPr lang="en-US" b="1" dirty="0"/>
              <a:t>Ports 20 and 21:</a:t>
            </a:r>
            <a:r>
              <a:rPr lang="en-US" dirty="0"/>
              <a:t> File Transfer Protocol (FTP). FTP is for transferring files between a client and a server.</a:t>
            </a:r>
          </a:p>
          <a:p>
            <a:r>
              <a:rPr lang="en-US" b="1" dirty="0"/>
              <a:t>Port 22:</a:t>
            </a:r>
            <a:r>
              <a:rPr lang="en-US" dirty="0"/>
              <a:t> Secure Shell (SSH). SSH is one of many </a:t>
            </a:r>
            <a:r>
              <a:rPr lang="en-US" dirty="0">
                <a:hlinkClick r:id="rId2"/>
              </a:rPr>
              <a:t>tunneling</a:t>
            </a:r>
            <a:r>
              <a:rPr lang="en-US" dirty="0"/>
              <a:t> protocols that create secure network connections.</a:t>
            </a:r>
          </a:p>
          <a:p>
            <a:r>
              <a:rPr lang="en-US" dirty="0">
                <a:hlinkClick r:id="rId3"/>
              </a:rPr>
              <a:t>Port 25</a:t>
            </a:r>
            <a:r>
              <a:rPr lang="en-US" dirty="0"/>
              <a:t>: Historically, </a:t>
            </a:r>
            <a:r>
              <a:rPr lang="en-US" dirty="0">
                <a:hlinkClick r:id="rId4"/>
              </a:rPr>
              <a:t>Simple Mail Transfer Protocol (SMTP)</a:t>
            </a:r>
            <a:r>
              <a:rPr lang="en-US" dirty="0"/>
              <a:t>. SMTP is used for </a:t>
            </a:r>
            <a:r>
              <a:rPr lang="en-US" dirty="0">
                <a:hlinkClick r:id="rId5"/>
              </a:rPr>
              <a:t>email</a:t>
            </a:r>
            <a:r>
              <a:rPr lang="en-US" dirty="0"/>
              <a:t>.</a:t>
            </a:r>
          </a:p>
          <a:p>
            <a:r>
              <a:rPr lang="en-US" b="1" dirty="0"/>
              <a:t>Port 53:</a:t>
            </a:r>
            <a:r>
              <a:rPr lang="en-US" dirty="0"/>
              <a:t> </a:t>
            </a:r>
            <a:r>
              <a:rPr lang="en-US" dirty="0">
                <a:hlinkClick r:id="rId6"/>
              </a:rPr>
              <a:t>Domain Name System (DNS)</a:t>
            </a:r>
            <a:r>
              <a:rPr lang="en-US" dirty="0"/>
              <a:t>. DNS is an essential process for the modern Internet; it matches human-readable </a:t>
            </a:r>
            <a:r>
              <a:rPr lang="en-US" dirty="0">
                <a:hlinkClick r:id="rId7"/>
              </a:rPr>
              <a:t>domain names</a:t>
            </a:r>
            <a:r>
              <a:rPr lang="en-US" dirty="0"/>
              <a:t> to machine-readable IP addresses, enabling users to load websites and applications without memorizing a long list of IP addresses.</a:t>
            </a:r>
          </a:p>
          <a:p>
            <a:r>
              <a:rPr lang="en-US" b="1" dirty="0"/>
              <a:t>Port 80:</a:t>
            </a:r>
            <a:r>
              <a:rPr lang="en-US" dirty="0"/>
              <a:t> Hypertext Transfer Protocol (HTTP). HTTP is the protocol that makes the World Wide Web possible.</a:t>
            </a:r>
          </a:p>
          <a:p>
            <a:endParaRPr lang="en-IN" dirty="0"/>
          </a:p>
        </p:txBody>
      </p:sp>
    </p:spTree>
    <p:extLst>
      <p:ext uri="{BB962C8B-B14F-4D97-AF65-F5344CB8AC3E}">
        <p14:creationId xmlns:p14="http://schemas.microsoft.com/office/powerpoint/2010/main" val="3990688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7520" y="345440"/>
            <a:ext cx="10876280" cy="5831523"/>
          </a:xfrm>
        </p:spPr>
        <p:txBody>
          <a:bodyPr>
            <a:normAutofit fontScale="92500"/>
          </a:bodyPr>
          <a:lstStyle/>
          <a:p>
            <a:r>
              <a:rPr lang="en-IN" b="1" dirty="0"/>
              <a:t>Port 123:</a:t>
            </a:r>
            <a:r>
              <a:rPr lang="en-IN" dirty="0"/>
              <a:t> </a:t>
            </a:r>
            <a:r>
              <a:rPr lang="en-IN" dirty="0">
                <a:hlinkClick r:id="rId2"/>
              </a:rPr>
              <a:t>Network Time Protocol (NTP)</a:t>
            </a:r>
            <a:r>
              <a:rPr lang="en-IN" dirty="0"/>
              <a:t>. NTP allows computer clocks to sync with each other, a process that is essential for </a:t>
            </a:r>
            <a:r>
              <a:rPr lang="en-IN" dirty="0">
                <a:hlinkClick r:id="rId3"/>
              </a:rPr>
              <a:t>encryption</a:t>
            </a:r>
            <a:r>
              <a:rPr lang="en-IN" dirty="0"/>
              <a:t>.</a:t>
            </a:r>
          </a:p>
          <a:p>
            <a:r>
              <a:rPr lang="en-IN" b="1" dirty="0"/>
              <a:t>Port 179:</a:t>
            </a:r>
            <a:r>
              <a:rPr lang="en-IN" dirty="0"/>
              <a:t> </a:t>
            </a:r>
            <a:r>
              <a:rPr lang="en-IN" dirty="0">
                <a:hlinkClick r:id="rId4"/>
              </a:rPr>
              <a:t>Border Gateway Protocol (BGP)</a:t>
            </a:r>
            <a:r>
              <a:rPr lang="en-IN" dirty="0"/>
              <a:t>. BGP is essential for establishing efficient routes between the large networks that make up the Internet (these large networks are called </a:t>
            </a:r>
            <a:r>
              <a:rPr lang="en-IN" dirty="0">
                <a:hlinkClick r:id="rId5"/>
              </a:rPr>
              <a:t>autonomous systems</a:t>
            </a:r>
            <a:r>
              <a:rPr lang="en-IN" dirty="0"/>
              <a:t>). Autonomous systems use BGP to broadcast which IP addresses they control.</a:t>
            </a:r>
          </a:p>
          <a:p>
            <a:r>
              <a:rPr lang="en-IN" b="1" dirty="0"/>
              <a:t>Port 443:</a:t>
            </a:r>
            <a:r>
              <a:rPr lang="en-IN" dirty="0"/>
              <a:t> </a:t>
            </a:r>
            <a:r>
              <a:rPr lang="en-IN" dirty="0">
                <a:hlinkClick r:id="rId6"/>
              </a:rPr>
              <a:t>HTTP Secure (HTTPS)</a:t>
            </a:r>
            <a:r>
              <a:rPr lang="en-IN" dirty="0"/>
              <a:t>. HTTPS is the secure and encrypted version of HTTP. All HTTPS web traffic goes to port 443. Network services that use HTTPS for encryption, such as </a:t>
            </a:r>
            <a:r>
              <a:rPr lang="en-IN" dirty="0">
                <a:hlinkClick r:id="rId7"/>
              </a:rPr>
              <a:t>DNS over HTTPS</a:t>
            </a:r>
            <a:r>
              <a:rPr lang="en-IN" dirty="0"/>
              <a:t>, also connect at this port.</a:t>
            </a:r>
          </a:p>
          <a:p>
            <a:r>
              <a:rPr lang="en-IN" b="1" dirty="0"/>
              <a:t>Port 500:</a:t>
            </a:r>
            <a:r>
              <a:rPr lang="en-IN" dirty="0"/>
              <a:t> Internet Security Association and Key Management Protocol (ISAKMP), which is part of the process of setting up secure </a:t>
            </a:r>
            <a:r>
              <a:rPr lang="en-IN" dirty="0">
                <a:hlinkClick r:id="rId8"/>
              </a:rPr>
              <a:t>IPsec</a:t>
            </a:r>
            <a:r>
              <a:rPr lang="en-IN" dirty="0"/>
              <a:t> connections.</a:t>
            </a:r>
          </a:p>
          <a:p>
            <a:r>
              <a:rPr lang="en-IN" b="1" dirty="0"/>
              <a:t>Port 587:</a:t>
            </a:r>
            <a:r>
              <a:rPr lang="en-IN" dirty="0"/>
              <a:t> Modern, secure SMTP that uses encryption.</a:t>
            </a:r>
          </a:p>
          <a:p>
            <a:r>
              <a:rPr lang="en-IN" b="1" dirty="0"/>
              <a:t>Port 3389:</a:t>
            </a:r>
            <a:r>
              <a:rPr lang="en-IN" dirty="0"/>
              <a:t> </a:t>
            </a:r>
            <a:r>
              <a:rPr lang="en-IN" dirty="0">
                <a:hlinkClick r:id="rId9"/>
              </a:rPr>
              <a:t>Remote Desktop Protocol</a:t>
            </a:r>
            <a:r>
              <a:rPr lang="en-IN" dirty="0"/>
              <a:t> (RDP). RDP enables users to remotely connect to their desktop computers from another device.</a:t>
            </a:r>
          </a:p>
          <a:p>
            <a:endParaRPr lang="en-IN" dirty="0"/>
          </a:p>
        </p:txBody>
      </p:sp>
    </p:spTree>
    <p:extLst>
      <p:ext uri="{BB962C8B-B14F-4D97-AF65-F5344CB8AC3E}">
        <p14:creationId xmlns:p14="http://schemas.microsoft.com/office/powerpoint/2010/main" val="38035365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10111222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30003644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814</Words>
  <Application>Microsoft Office PowerPoint</Application>
  <PresentationFormat>Widescreen</PresentationFormat>
  <Paragraphs>42</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What is a computer port? | Ports in networking</vt:lpstr>
      <vt:lpstr>PowerPoint Presentation</vt:lpstr>
      <vt:lpstr>What is a port? </vt:lpstr>
      <vt:lpstr>What is a port number? </vt:lpstr>
      <vt:lpstr>How do ports make network connections more efficient? </vt:lpstr>
      <vt:lpstr>Are ports part of the network layer? </vt:lpstr>
      <vt:lpstr>PowerPoint Presentation</vt:lpstr>
      <vt:lpstr>PowerPoint Presentation</vt:lpstr>
      <vt:lpstr>PowerPoint Presentation</vt:lpstr>
      <vt:lpstr>PowerPoint Presentation</vt:lpstr>
      <vt:lpstr>Why do firewalls sometimes block specific ports?</vt:lpstr>
      <vt:lpstr>PowerPoint Presentation</vt:lpstr>
      <vt:lpstr>What are the different port numbers?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 computer port? | Ports in networking</dc:title>
  <dc:creator>LENOVO</dc:creator>
  <cp:lastModifiedBy>LENOVO</cp:lastModifiedBy>
  <cp:revision>18</cp:revision>
  <dcterms:created xsi:type="dcterms:W3CDTF">2025-04-21T10:12:28Z</dcterms:created>
  <dcterms:modified xsi:type="dcterms:W3CDTF">2025-04-21T10:28:07Z</dcterms:modified>
</cp:coreProperties>
</file>