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1" r:id="rId9"/>
    <p:sldId id="265" r:id="rId10"/>
    <p:sldId id="264" r:id="rId11"/>
    <p:sldId id="266" r:id="rId12"/>
    <p:sldId id="267" r:id="rId13"/>
    <p:sldId id="268" r:id="rId14"/>
    <p:sldId id="270" r:id="rId15"/>
    <p:sldId id="271"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0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07DF608-60BF-4D0E-9146-562FEE0F0608}"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CD4077-9A35-40E8-BD41-4A38B0312302}" type="slidenum">
              <a:rPr lang="en-IN" smtClean="0"/>
              <a:t>‹#›</a:t>
            </a:fld>
            <a:endParaRPr lang="en-IN"/>
          </a:p>
        </p:txBody>
      </p:sp>
    </p:spTree>
    <p:extLst>
      <p:ext uri="{BB962C8B-B14F-4D97-AF65-F5344CB8AC3E}">
        <p14:creationId xmlns:p14="http://schemas.microsoft.com/office/powerpoint/2010/main" val="4062185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07DF608-60BF-4D0E-9146-562FEE0F0608}"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CD4077-9A35-40E8-BD41-4A38B0312302}" type="slidenum">
              <a:rPr lang="en-IN" smtClean="0"/>
              <a:t>‹#›</a:t>
            </a:fld>
            <a:endParaRPr lang="en-IN"/>
          </a:p>
        </p:txBody>
      </p:sp>
    </p:spTree>
    <p:extLst>
      <p:ext uri="{BB962C8B-B14F-4D97-AF65-F5344CB8AC3E}">
        <p14:creationId xmlns:p14="http://schemas.microsoft.com/office/powerpoint/2010/main" val="1001515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07DF608-60BF-4D0E-9146-562FEE0F0608}"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CD4077-9A35-40E8-BD41-4A38B0312302}" type="slidenum">
              <a:rPr lang="en-IN" smtClean="0"/>
              <a:t>‹#›</a:t>
            </a:fld>
            <a:endParaRPr lang="en-IN"/>
          </a:p>
        </p:txBody>
      </p:sp>
    </p:spTree>
    <p:extLst>
      <p:ext uri="{BB962C8B-B14F-4D97-AF65-F5344CB8AC3E}">
        <p14:creationId xmlns:p14="http://schemas.microsoft.com/office/powerpoint/2010/main" val="3458228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07DF608-60BF-4D0E-9146-562FEE0F0608}"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CD4077-9A35-40E8-BD41-4A38B0312302}" type="slidenum">
              <a:rPr lang="en-IN" smtClean="0"/>
              <a:t>‹#›</a:t>
            </a:fld>
            <a:endParaRPr lang="en-IN"/>
          </a:p>
        </p:txBody>
      </p:sp>
    </p:spTree>
    <p:extLst>
      <p:ext uri="{BB962C8B-B14F-4D97-AF65-F5344CB8AC3E}">
        <p14:creationId xmlns:p14="http://schemas.microsoft.com/office/powerpoint/2010/main" val="1706104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07DF608-60BF-4D0E-9146-562FEE0F0608}" type="datetimeFigureOut">
              <a:rPr lang="en-IN" smtClean="0"/>
              <a:t>21-04-2025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8CD4077-9A35-40E8-BD41-4A38B0312302}" type="slidenum">
              <a:rPr lang="en-IN" smtClean="0"/>
              <a:t>‹#›</a:t>
            </a:fld>
            <a:endParaRPr lang="en-IN"/>
          </a:p>
        </p:txBody>
      </p:sp>
    </p:spTree>
    <p:extLst>
      <p:ext uri="{BB962C8B-B14F-4D97-AF65-F5344CB8AC3E}">
        <p14:creationId xmlns:p14="http://schemas.microsoft.com/office/powerpoint/2010/main" val="332478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07DF608-60BF-4D0E-9146-562FEE0F0608}" type="datetimeFigureOut">
              <a:rPr lang="en-IN" smtClean="0"/>
              <a:t>21-04-2025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8CD4077-9A35-40E8-BD41-4A38B0312302}" type="slidenum">
              <a:rPr lang="en-IN" smtClean="0"/>
              <a:t>‹#›</a:t>
            </a:fld>
            <a:endParaRPr lang="en-IN"/>
          </a:p>
        </p:txBody>
      </p:sp>
    </p:spTree>
    <p:extLst>
      <p:ext uri="{BB962C8B-B14F-4D97-AF65-F5344CB8AC3E}">
        <p14:creationId xmlns:p14="http://schemas.microsoft.com/office/powerpoint/2010/main" val="1967943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7DF608-60BF-4D0E-9146-562FEE0F0608}" type="datetimeFigureOut">
              <a:rPr lang="en-IN" smtClean="0"/>
              <a:t>21-04-2025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8CD4077-9A35-40E8-BD41-4A38B0312302}" type="slidenum">
              <a:rPr lang="en-IN" smtClean="0"/>
              <a:t>‹#›</a:t>
            </a:fld>
            <a:endParaRPr lang="en-IN"/>
          </a:p>
        </p:txBody>
      </p:sp>
    </p:spTree>
    <p:extLst>
      <p:ext uri="{BB962C8B-B14F-4D97-AF65-F5344CB8AC3E}">
        <p14:creationId xmlns:p14="http://schemas.microsoft.com/office/powerpoint/2010/main" val="32103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7DF608-60BF-4D0E-9146-562FEE0F0608}"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CD4077-9A35-40E8-BD41-4A38B0312302}" type="slidenum">
              <a:rPr lang="en-IN" smtClean="0"/>
              <a:t>‹#›</a:t>
            </a:fld>
            <a:endParaRPr lang="en-IN"/>
          </a:p>
        </p:txBody>
      </p:sp>
    </p:spTree>
    <p:extLst>
      <p:ext uri="{BB962C8B-B14F-4D97-AF65-F5344CB8AC3E}">
        <p14:creationId xmlns:p14="http://schemas.microsoft.com/office/powerpoint/2010/main" val="752728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07DF608-60BF-4D0E-9146-562FEE0F0608}" type="datetimeFigureOut">
              <a:rPr lang="en-IN" smtClean="0"/>
              <a:t>21-04-2025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CD4077-9A35-40E8-BD41-4A38B0312302}" type="slidenum">
              <a:rPr lang="en-IN" smtClean="0"/>
              <a:t>‹#›</a:t>
            </a:fld>
            <a:endParaRPr lang="en-IN"/>
          </a:p>
        </p:txBody>
      </p:sp>
    </p:spTree>
    <p:extLst>
      <p:ext uri="{BB962C8B-B14F-4D97-AF65-F5344CB8AC3E}">
        <p14:creationId xmlns:p14="http://schemas.microsoft.com/office/powerpoint/2010/main" val="1610529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07DF608-60BF-4D0E-9146-562FEE0F0608}"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CD4077-9A35-40E8-BD41-4A38B0312302}" type="slidenum">
              <a:rPr lang="en-IN" smtClean="0"/>
              <a:t>‹#›</a:t>
            </a:fld>
            <a:endParaRPr lang="en-IN"/>
          </a:p>
        </p:txBody>
      </p:sp>
    </p:spTree>
    <p:extLst>
      <p:ext uri="{BB962C8B-B14F-4D97-AF65-F5344CB8AC3E}">
        <p14:creationId xmlns:p14="http://schemas.microsoft.com/office/powerpoint/2010/main" val="4283862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07DF608-60BF-4D0E-9146-562FEE0F0608}" type="datetimeFigureOut">
              <a:rPr lang="en-IN" smtClean="0"/>
              <a:t>21-04-2025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CD4077-9A35-40E8-BD41-4A38B0312302}" type="slidenum">
              <a:rPr lang="en-IN" smtClean="0"/>
              <a:t>‹#›</a:t>
            </a:fld>
            <a:endParaRPr lang="en-IN"/>
          </a:p>
        </p:txBody>
      </p:sp>
    </p:spTree>
    <p:extLst>
      <p:ext uri="{BB962C8B-B14F-4D97-AF65-F5344CB8AC3E}">
        <p14:creationId xmlns:p14="http://schemas.microsoft.com/office/powerpoint/2010/main" val="1622950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7DF608-60BF-4D0E-9146-562FEE0F0608}" type="datetimeFigureOut">
              <a:rPr lang="en-IN" smtClean="0"/>
              <a:t>21-04-2025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CD4077-9A35-40E8-BD41-4A38B0312302}" type="slidenum">
              <a:rPr lang="en-IN" smtClean="0"/>
              <a:t>‹#›</a:t>
            </a:fld>
            <a:endParaRPr lang="en-IN"/>
          </a:p>
        </p:txBody>
      </p:sp>
    </p:spTree>
    <p:extLst>
      <p:ext uri="{BB962C8B-B14F-4D97-AF65-F5344CB8AC3E}">
        <p14:creationId xmlns:p14="http://schemas.microsoft.com/office/powerpoint/2010/main" val="541185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cloudflare.com/learning/network-layer/internet-protoco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cdw.com/content/cdw/en/products/networking-products/network-security.html" TargetMode="External"/><Relationship Id="rId2" Type="http://schemas.openxmlformats.org/officeDocument/2006/relationships/hyperlink" Target="https://www.cdw.com/content/cdw/en/solutions/data-center-and-network-infrastructure/network-management.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Networking </a:t>
            </a:r>
            <a:r>
              <a:rPr lang="en-US" b="1" dirty="0" smtClean="0"/>
              <a:t>Protocol</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5033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Network Protocol?</a:t>
            </a:r>
          </a:p>
        </p:txBody>
      </p:sp>
      <p:sp>
        <p:nvSpPr>
          <p:cNvPr id="3" name="Content Placeholder 2"/>
          <p:cNvSpPr>
            <a:spLocks noGrp="1"/>
          </p:cNvSpPr>
          <p:nvPr>
            <p:ph idx="1"/>
          </p:nvPr>
        </p:nvSpPr>
        <p:spPr/>
        <p:txBody>
          <a:bodyPr/>
          <a:lstStyle/>
          <a:p>
            <a:pPr algn="just"/>
            <a:r>
              <a:rPr lang="en-US" i="1" dirty="0"/>
              <a:t>C</a:t>
            </a:r>
            <a:r>
              <a:rPr lang="en-US" i="1" dirty="0" smtClean="0"/>
              <a:t>omputer </a:t>
            </a:r>
            <a:r>
              <a:rPr lang="en-US" i="1" dirty="0"/>
              <a:t>networking, a protocol is a set of rules for formatting and processing data. Network protocols are like a common language for computers. The computers within a network may use vastly different software and hardware; however, the use of protocols enables them to communicate with each other regardless.</a:t>
            </a:r>
            <a:endParaRPr lang="en-IN" dirty="0"/>
          </a:p>
        </p:txBody>
      </p:sp>
    </p:spTree>
    <p:extLst>
      <p:ext uri="{BB962C8B-B14F-4D97-AF65-F5344CB8AC3E}">
        <p14:creationId xmlns:p14="http://schemas.microsoft.com/office/powerpoint/2010/main" val="3354205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9120" y="711200"/>
            <a:ext cx="10774680" cy="5465763"/>
          </a:xfrm>
        </p:spPr>
        <p:txBody>
          <a:bodyPr>
            <a:normAutofit/>
          </a:bodyPr>
          <a:lstStyle/>
          <a:p>
            <a:pPr algn="just"/>
            <a:r>
              <a:rPr lang="en-US" b="1" i="1" dirty="0"/>
              <a:t>Standardized protocols are like a common language that computers can use, similar to how two people from different parts of the world may not understand each other's native languages, but they can communicate using a shared third language. If one computer uses the </a:t>
            </a:r>
            <a:r>
              <a:rPr lang="en-US" b="1" i="1" u="sng" dirty="0">
                <a:hlinkClick r:id="rId2"/>
              </a:rPr>
              <a:t>Internet Protocol (IP)</a:t>
            </a:r>
            <a:r>
              <a:rPr lang="en-US" b="1" i="1" dirty="0"/>
              <a:t> and a second computer does as well, they will be able to communicate — just as the United Nations relies on its 6 official languages to communicate amongst representatives from all over the globe. </a:t>
            </a:r>
            <a:endParaRPr lang="en-US" b="1" i="1" dirty="0" smtClean="0"/>
          </a:p>
          <a:p>
            <a:pPr algn="just"/>
            <a:r>
              <a:rPr lang="en-US" b="1" i="1" dirty="0" smtClean="0"/>
              <a:t>But </a:t>
            </a:r>
            <a:r>
              <a:rPr lang="en-US" b="1" i="1" dirty="0"/>
              <a:t>if one computer uses IP and the other does not know this protocol, they will be unable to communicate. </a:t>
            </a:r>
            <a:r>
              <a:rPr lang="en-US" i="1" dirty="0"/>
              <a:t>With that in mind, let's examine the different types of network protocols that allow a network to function at its peak, and how these protocols can benefit your business endeavors. </a:t>
            </a:r>
            <a:endParaRPr lang="en-IN" dirty="0"/>
          </a:p>
        </p:txBody>
      </p:sp>
    </p:spTree>
    <p:extLst>
      <p:ext uri="{BB962C8B-B14F-4D97-AF65-F5344CB8AC3E}">
        <p14:creationId xmlns:p14="http://schemas.microsoft.com/office/powerpoint/2010/main" val="917694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Types of Network Protocols</a:t>
            </a:r>
            <a:br>
              <a:rPr lang="en-IN" b="1" dirty="0" smtClean="0"/>
            </a:br>
            <a:endParaRPr lang="en-IN" dirty="0"/>
          </a:p>
        </p:txBody>
      </p:sp>
      <p:sp>
        <p:nvSpPr>
          <p:cNvPr id="3" name="Content Placeholder 2"/>
          <p:cNvSpPr>
            <a:spLocks noGrp="1"/>
          </p:cNvSpPr>
          <p:nvPr>
            <p:ph idx="1"/>
          </p:nvPr>
        </p:nvSpPr>
        <p:spPr/>
        <p:txBody>
          <a:bodyPr/>
          <a:lstStyle/>
          <a:p>
            <a:r>
              <a:rPr lang="en-IN" dirty="0" smtClean="0"/>
              <a:t>There </a:t>
            </a:r>
            <a:r>
              <a:rPr lang="en-IN" dirty="0"/>
              <a:t>are three main types of network protocols. These include </a:t>
            </a:r>
            <a:r>
              <a:rPr lang="en-IN" u="sng" dirty="0">
                <a:hlinkClick r:id="rId2" tooltip="Discover network management solutions"/>
              </a:rPr>
              <a:t>network management</a:t>
            </a:r>
            <a:r>
              <a:rPr lang="en-IN" dirty="0"/>
              <a:t> protocols, network communication protocols and </a:t>
            </a:r>
            <a:r>
              <a:rPr lang="en-IN" u="sng" dirty="0">
                <a:hlinkClick r:id="rId3" tooltip="Learn about network security"/>
              </a:rPr>
              <a:t>network security</a:t>
            </a:r>
            <a:r>
              <a:rPr lang="en-IN" dirty="0"/>
              <a:t> protocols:</a:t>
            </a:r>
          </a:p>
          <a:p>
            <a:r>
              <a:rPr lang="en-IN" b="1" dirty="0"/>
              <a:t>Communication protocols</a:t>
            </a:r>
            <a:r>
              <a:rPr lang="en-IN" dirty="0"/>
              <a:t> include basic data communication tools like </a:t>
            </a:r>
            <a:r>
              <a:rPr lang="en-IN" i="1" dirty="0"/>
              <a:t>TCP/IP</a:t>
            </a:r>
            <a:r>
              <a:rPr lang="en-IN" dirty="0"/>
              <a:t> and </a:t>
            </a:r>
            <a:r>
              <a:rPr lang="en-IN" i="1" dirty="0"/>
              <a:t>HTTP</a:t>
            </a:r>
            <a:r>
              <a:rPr lang="en-IN" dirty="0"/>
              <a:t>.</a:t>
            </a:r>
          </a:p>
          <a:p>
            <a:r>
              <a:rPr lang="en-IN" b="1" dirty="0"/>
              <a:t>Management protocols</a:t>
            </a:r>
            <a:r>
              <a:rPr lang="en-IN" dirty="0"/>
              <a:t> maintain and govern the network through protocols such as </a:t>
            </a:r>
            <a:r>
              <a:rPr lang="en-IN" i="1" dirty="0"/>
              <a:t>ICMP </a:t>
            </a:r>
            <a:r>
              <a:rPr lang="en-IN" dirty="0"/>
              <a:t>and </a:t>
            </a:r>
            <a:r>
              <a:rPr lang="en-IN" i="1" dirty="0"/>
              <a:t>SNMP</a:t>
            </a:r>
            <a:r>
              <a:rPr lang="en-IN" dirty="0"/>
              <a:t>. </a:t>
            </a:r>
          </a:p>
          <a:p>
            <a:r>
              <a:rPr lang="en-IN" b="1" dirty="0"/>
              <a:t>Security protocols</a:t>
            </a:r>
            <a:r>
              <a:rPr lang="en-IN" dirty="0"/>
              <a:t> include </a:t>
            </a:r>
            <a:r>
              <a:rPr lang="en-IN" i="1" dirty="0"/>
              <a:t>HTTPS</a:t>
            </a:r>
            <a:r>
              <a:rPr lang="en-IN" dirty="0"/>
              <a:t>, </a:t>
            </a:r>
            <a:r>
              <a:rPr lang="en-IN" i="1" dirty="0"/>
              <a:t>SFTP</a:t>
            </a:r>
            <a:r>
              <a:rPr lang="en-IN" dirty="0"/>
              <a:t>, and </a:t>
            </a:r>
            <a:r>
              <a:rPr lang="en-IN" i="1" dirty="0"/>
              <a:t>SSL</a:t>
            </a:r>
            <a:r>
              <a:rPr lang="en-IN" dirty="0"/>
              <a:t>.</a:t>
            </a:r>
          </a:p>
          <a:p>
            <a:endParaRPr lang="en-IN" dirty="0"/>
          </a:p>
        </p:txBody>
      </p:sp>
    </p:spTree>
    <p:extLst>
      <p:ext uri="{BB962C8B-B14F-4D97-AF65-F5344CB8AC3E}">
        <p14:creationId xmlns:p14="http://schemas.microsoft.com/office/powerpoint/2010/main" val="650561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Network Communication Protocols</a:t>
            </a:r>
            <a:br>
              <a:rPr lang="en-IN" b="1" dirty="0"/>
            </a:br>
            <a:endParaRPr lang="en-IN" dirty="0"/>
          </a:p>
        </p:txBody>
      </p:sp>
      <p:sp>
        <p:nvSpPr>
          <p:cNvPr id="3" name="Content Placeholder 2"/>
          <p:cNvSpPr>
            <a:spLocks noGrp="1"/>
          </p:cNvSpPr>
          <p:nvPr>
            <p:ph idx="1"/>
          </p:nvPr>
        </p:nvSpPr>
        <p:spPr/>
        <p:txBody>
          <a:bodyPr/>
          <a:lstStyle/>
          <a:p>
            <a:pPr algn="just"/>
            <a:r>
              <a:rPr lang="en-US" dirty="0"/>
              <a:t>Communication protocols are vital to the functioning of a network. In fact, computer networks can't exist without these protocols. These protocols formally describe the formats and rules by which data is transferred over the network. </a:t>
            </a:r>
            <a:endParaRPr lang="en-US" dirty="0" smtClean="0"/>
          </a:p>
          <a:p>
            <a:pPr algn="just"/>
            <a:r>
              <a:rPr lang="en-US" dirty="0" smtClean="0"/>
              <a:t>This </a:t>
            </a:r>
            <a:r>
              <a:rPr lang="en-US" dirty="0"/>
              <a:t>is a must-have for exchanging messages between your computing systems and in telecommunications, applying to both hardware and software. </a:t>
            </a:r>
            <a:endParaRPr lang="en-US" dirty="0" smtClean="0"/>
          </a:p>
          <a:p>
            <a:pPr algn="just"/>
            <a:r>
              <a:rPr lang="en-US" dirty="0" smtClean="0"/>
              <a:t>Communication </a:t>
            </a:r>
            <a:r>
              <a:rPr lang="en-US" dirty="0"/>
              <a:t>protocols also handle authentication and error detection as well as the syntax, synchronization and semantics that both analog and digital communications must abide by to function.</a:t>
            </a:r>
            <a:endParaRPr lang="en-IN" dirty="0"/>
          </a:p>
        </p:txBody>
      </p:sp>
    </p:spTree>
    <p:extLst>
      <p:ext uri="{BB962C8B-B14F-4D97-AF65-F5344CB8AC3E}">
        <p14:creationId xmlns:p14="http://schemas.microsoft.com/office/powerpoint/2010/main" val="84685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0080" y="741680"/>
            <a:ext cx="10713720" cy="5435283"/>
          </a:xfrm>
        </p:spPr>
        <p:txBody>
          <a:bodyPr>
            <a:normAutofit fontScale="92500" lnSpcReduction="10000"/>
          </a:bodyPr>
          <a:lstStyle/>
          <a:p>
            <a:pPr algn="just"/>
            <a:r>
              <a:rPr lang="en-US" b="1" dirty="0"/>
              <a:t>HTTP </a:t>
            </a:r>
            <a:r>
              <a:rPr lang="en-US" dirty="0"/>
              <a:t>– One of the most familiar protocols, </a:t>
            </a:r>
            <a:r>
              <a:rPr lang="en-US" i="1" dirty="0"/>
              <a:t>hyper text transfer protocol (HTTP)</a:t>
            </a:r>
            <a:r>
              <a:rPr lang="en-US" dirty="0"/>
              <a:t> is often referred to as the protocol of the internet. HTTP is an application layer protocol that allows the browser and server to communicate.</a:t>
            </a:r>
          </a:p>
          <a:p>
            <a:pPr algn="just"/>
            <a:r>
              <a:rPr lang="en-US" b="1" dirty="0"/>
              <a:t>TCP </a:t>
            </a:r>
            <a:r>
              <a:rPr lang="en-US" dirty="0"/>
              <a:t>– </a:t>
            </a:r>
            <a:r>
              <a:rPr lang="en-US" i="1" dirty="0"/>
              <a:t>Transmission Control Protocol (TCP) </a:t>
            </a:r>
            <a:r>
              <a:rPr lang="en-US" dirty="0"/>
              <a:t>separates data into packets that can be shared over a network. These packets can then be sent by devices like </a:t>
            </a:r>
            <a:r>
              <a:rPr lang="en-US" b="1" dirty="0"/>
              <a:t>switches</a:t>
            </a:r>
            <a:r>
              <a:rPr lang="en-US" dirty="0"/>
              <a:t> and </a:t>
            </a:r>
            <a:r>
              <a:rPr lang="en-US" b="1" dirty="0"/>
              <a:t>routers</a:t>
            </a:r>
            <a:r>
              <a:rPr lang="en-US" dirty="0"/>
              <a:t> to the designated targets.</a:t>
            </a:r>
          </a:p>
          <a:p>
            <a:pPr algn="just"/>
            <a:r>
              <a:rPr lang="en-US" b="1" dirty="0"/>
              <a:t>IP </a:t>
            </a:r>
            <a:r>
              <a:rPr lang="en-US" dirty="0"/>
              <a:t>– </a:t>
            </a:r>
            <a:r>
              <a:rPr lang="en-US" i="1" dirty="0"/>
              <a:t>Internet Protocol (IP) </a:t>
            </a:r>
            <a:r>
              <a:rPr lang="en-US" dirty="0"/>
              <a:t>is similar to TCP, in that it separates and breaks up data into smaller packets for easier routing. Rather than being sent to devices, though, this protocol is used by the internet to route and address that data across networks so that it arrives at the right destination.</a:t>
            </a:r>
          </a:p>
          <a:p>
            <a:pPr algn="just"/>
            <a:r>
              <a:rPr lang="en-US" b="1" dirty="0"/>
              <a:t>UDP </a:t>
            </a:r>
            <a:r>
              <a:rPr lang="en-US" dirty="0"/>
              <a:t>– </a:t>
            </a:r>
            <a:r>
              <a:rPr lang="en-US" i="1" dirty="0"/>
              <a:t>User Datagram Protocol (UDP)</a:t>
            </a:r>
            <a:r>
              <a:rPr lang="en-US" dirty="0"/>
              <a:t> works in a similar way to TCP, sending packets of data over the network. The key difference between the two is that TCP ensures a connection is made between the application and server, but UDP does not.</a:t>
            </a:r>
          </a:p>
          <a:p>
            <a:pPr algn="just"/>
            <a:endParaRPr lang="en-IN" b="1" dirty="0"/>
          </a:p>
        </p:txBody>
      </p:sp>
    </p:spTree>
    <p:extLst>
      <p:ext uri="{BB962C8B-B14F-4D97-AF65-F5344CB8AC3E}">
        <p14:creationId xmlns:p14="http://schemas.microsoft.com/office/powerpoint/2010/main" val="2591161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7520" y="599440"/>
            <a:ext cx="10876280" cy="5577523"/>
          </a:xfrm>
        </p:spPr>
        <p:txBody>
          <a:bodyPr/>
          <a:lstStyle/>
          <a:p>
            <a:r>
              <a:rPr lang="en-US" b="1" dirty="0"/>
              <a:t>IRC </a:t>
            </a:r>
            <a:r>
              <a:rPr lang="en-US" dirty="0"/>
              <a:t>– </a:t>
            </a:r>
            <a:r>
              <a:rPr lang="en-US" i="1" dirty="0"/>
              <a:t>Internet Relay Chat (IRC)</a:t>
            </a:r>
            <a:r>
              <a:rPr lang="en-US" dirty="0"/>
              <a:t> is a text-based communication protocol. Software clients are used to communicate with servers and send messages to other clients. This protocol works well on networks with a large number of distributed machines.</a:t>
            </a:r>
          </a:p>
          <a:p>
            <a:r>
              <a:rPr lang="en-US" b="1" dirty="0"/>
              <a:t>SSH </a:t>
            </a:r>
            <a:r>
              <a:rPr lang="en-US" dirty="0"/>
              <a:t>– </a:t>
            </a:r>
            <a:r>
              <a:rPr lang="en-US" i="1" dirty="0"/>
              <a:t>Secure Socket Shell (SSH) </a:t>
            </a:r>
            <a:r>
              <a:rPr lang="en-US" dirty="0"/>
              <a:t>is a security-based protocol, built primarily for system admins. It allows users to securely access devices even over an unsecured network.</a:t>
            </a:r>
          </a:p>
          <a:p>
            <a:endParaRPr lang="en-IN" dirty="0"/>
          </a:p>
        </p:txBody>
      </p:sp>
    </p:spTree>
    <p:extLst>
      <p:ext uri="{BB962C8B-B14F-4D97-AF65-F5344CB8AC3E}">
        <p14:creationId xmlns:p14="http://schemas.microsoft.com/office/powerpoint/2010/main" val="94167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431799" y="1449434"/>
            <a:ext cx="11094629" cy="2726325"/>
          </a:xfrm>
          <a:prstGeom prst="rect">
            <a:avLst/>
          </a:prstGeom>
        </p:spPr>
      </p:pic>
    </p:spTree>
    <p:extLst>
      <p:ext uri="{BB962C8B-B14F-4D97-AF65-F5344CB8AC3E}">
        <p14:creationId xmlns:p14="http://schemas.microsoft.com/office/powerpoint/2010/main" val="1426243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Network Management Protocols</a:t>
            </a:r>
            <a:br>
              <a:rPr lang="en-IN" b="1" dirty="0"/>
            </a:br>
            <a:endParaRPr lang="en-IN" dirty="0"/>
          </a:p>
        </p:txBody>
      </p:sp>
      <p:sp>
        <p:nvSpPr>
          <p:cNvPr id="3" name="Content Placeholder 2"/>
          <p:cNvSpPr>
            <a:spLocks noGrp="1"/>
          </p:cNvSpPr>
          <p:nvPr>
            <p:ph idx="1"/>
          </p:nvPr>
        </p:nvSpPr>
        <p:spPr>
          <a:xfrm>
            <a:off x="467360" y="1137920"/>
            <a:ext cx="10886440" cy="5039043"/>
          </a:xfrm>
        </p:spPr>
        <p:txBody>
          <a:bodyPr>
            <a:normAutofit/>
          </a:bodyPr>
          <a:lstStyle/>
          <a:p>
            <a:pPr algn="just"/>
            <a:r>
              <a:rPr lang="en-US" dirty="0"/>
              <a:t>Network management protocols help define the policies and procedures used to monitor, manage and maintain your computer network, and help communicate these needs across the network to ensure stable communication and optimal performance across the board.</a:t>
            </a:r>
          </a:p>
          <a:p>
            <a:pPr algn="just"/>
            <a:r>
              <a:rPr lang="en-US" dirty="0"/>
              <a:t>Generally, network managers can use a management protocol to troubleshoot connections between host and client devices. Management protocols provide network managers with the host connection's status, availability, packet or data loss, and other related information about the health of the network connection.</a:t>
            </a:r>
          </a:p>
          <a:p>
            <a:pPr algn="just"/>
            <a:r>
              <a:rPr lang="en-US" dirty="0"/>
              <a:t>The policies managed by management protocols can be applied to all devices on the network, including computers, switches, routers and even servers.</a:t>
            </a:r>
          </a:p>
          <a:p>
            <a:pPr algn="just"/>
            <a:endParaRPr lang="en-IN" dirty="0"/>
          </a:p>
        </p:txBody>
      </p:sp>
    </p:spTree>
    <p:extLst>
      <p:ext uri="{BB962C8B-B14F-4D97-AF65-F5344CB8AC3E}">
        <p14:creationId xmlns:p14="http://schemas.microsoft.com/office/powerpoint/2010/main" val="1348027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9920"/>
            <a:ext cx="10896600" cy="5547043"/>
          </a:xfrm>
        </p:spPr>
        <p:txBody>
          <a:bodyPr>
            <a:normAutofit lnSpcReduction="10000"/>
          </a:bodyPr>
          <a:lstStyle/>
          <a:p>
            <a:r>
              <a:rPr lang="en-US" dirty="0" smtClean="0"/>
              <a:t>Two of the most common types of network management protocols include Simple Network Management Protocol (SNMP) and Internet Control Message Protocol (ICMP).</a:t>
            </a:r>
          </a:p>
          <a:p>
            <a:endParaRPr lang="en-US" dirty="0" smtClean="0"/>
          </a:p>
          <a:p>
            <a:r>
              <a:rPr lang="en-US" b="1" dirty="0" smtClean="0"/>
              <a:t>SNMP</a:t>
            </a:r>
            <a:r>
              <a:rPr lang="en-US" dirty="0" smtClean="0"/>
              <a:t> – Simple Network Management Protocol (SNMP) is used to monitor and manage network devices. This TCP-based protocol allows administrators to view and modify endpoint information to alter behavior of devices across the network. SNMP relies on the use of agents to collect and send data to an overarching SMNP manager, which in turn queries agents and gets their responses.</a:t>
            </a:r>
          </a:p>
          <a:p>
            <a:r>
              <a:rPr lang="en-US" b="1" dirty="0" smtClean="0"/>
              <a:t>ICMP</a:t>
            </a:r>
            <a:r>
              <a:rPr lang="en-US" dirty="0" smtClean="0"/>
              <a:t> – Internet Control Message Protocol (ICMP) is primarily used for diagnostic purposes. Managed devices on the network can use this protocol to send error messages, providing information regarding network connectivity issues between devices.</a:t>
            </a:r>
            <a:endParaRPr lang="en-IN" dirty="0"/>
          </a:p>
        </p:txBody>
      </p:sp>
    </p:spTree>
    <p:extLst>
      <p:ext uri="{BB962C8B-B14F-4D97-AF65-F5344CB8AC3E}">
        <p14:creationId xmlns:p14="http://schemas.microsoft.com/office/powerpoint/2010/main" val="1883134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0" dirty="0" smtClean="0">
                <a:solidFill>
                  <a:srgbClr val="150404"/>
                </a:solidFill>
                <a:effectLst/>
                <a:latin typeface="Source Sans Pro"/>
              </a:rPr>
              <a:t>Network Security Protocols</a:t>
            </a:r>
            <a:br>
              <a:rPr lang="en-IN" b="1" i="0" dirty="0" smtClean="0">
                <a:solidFill>
                  <a:srgbClr val="150404"/>
                </a:solidFill>
                <a:effectLst/>
                <a:latin typeface="Source Sans Pro"/>
              </a:rPr>
            </a:br>
            <a:endParaRPr lang="en-IN" dirty="0"/>
          </a:p>
        </p:txBody>
      </p:sp>
      <p:sp>
        <p:nvSpPr>
          <p:cNvPr id="3" name="Content Placeholder 2"/>
          <p:cNvSpPr>
            <a:spLocks noGrp="1"/>
          </p:cNvSpPr>
          <p:nvPr>
            <p:ph idx="1"/>
          </p:nvPr>
        </p:nvSpPr>
        <p:spPr/>
        <p:txBody>
          <a:bodyPr>
            <a:normAutofit fontScale="92500" lnSpcReduction="10000"/>
          </a:bodyPr>
          <a:lstStyle/>
          <a:p>
            <a:pPr algn="just"/>
            <a:r>
              <a:rPr lang="en-US" dirty="0" smtClean="0"/>
              <a:t>Network security protocols work to ensure that data in transit over the network's connections stays safe and secure. These protocols also define how the network secures data from any attempts to review or extract said data by illegitimate means. This helps ensure that no unauthorized users, services, or devices access your network data, and this works across all data types and network mediums being used.</a:t>
            </a:r>
          </a:p>
          <a:p>
            <a:pPr algn="just"/>
            <a:endParaRPr lang="en-US" dirty="0" smtClean="0"/>
          </a:p>
          <a:p>
            <a:pPr algn="just"/>
            <a:r>
              <a:rPr lang="en-US" dirty="0" smtClean="0"/>
              <a:t>Usually, network security protocols rely on encryption and cryptography to secure data so that only special algorithms, formulas and logical keys can make this data accessible. Some of the most popular protocols for network security include Secure Socket Layer (SSL), Secure File Transfer Protocol (SFTP) and Secure Hypertext Transfer Protocol (HTTPS).</a:t>
            </a:r>
            <a:endParaRPr lang="en-IN" dirty="0"/>
          </a:p>
        </p:txBody>
      </p:sp>
    </p:spTree>
    <p:extLst>
      <p:ext uri="{BB962C8B-B14F-4D97-AF65-F5344CB8AC3E}">
        <p14:creationId xmlns:p14="http://schemas.microsoft.com/office/powerpoint/2010/main" val="3252038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7840" y="599440"/>
            <a:ext cx="10855960" cy="5577523"/>
          </a:xfrm>
        </p:spPr>
        <p:txBody>
          <a:bodyPr>
            <a:normAutofit/>
          </a:bodyPr>
          <a:lstStyle/>
          <a:p>
            <a:pPr algn="just"/>
            <a:r>
              <a:rPr lang="en-US" b="1" dirty="0"/>
              <a:t>SSL </a:t>
            </a:r>
            <a:r>
              <a:rPr lang="en-US" dirty="0"/>
              <a:t>– A </a:t>
            </a:r>
            <a:r>
              <a:rPr lang="en-US" i="1" dirty="0"/>
              <a:t>Secure Socket Layer (SSL)</a:t>
            </a:r>
            <a:r>
              <a:rPr lang="en-US" dirty="0"/>
              <a:t> is a network security protocol primarily used for ensuring secure internet connections and protecting sensitive data. This protocol can allow for server/client communication as well as server/server communication. Data transferred with SSL is encrypted to prevent it from being readable.</a:t>
            </a:r>
          </a:p>
          <a:p>
            <a:pPr algn="just"/>
            <a:r>
              <a:rPr lang="en-US" b="1" dirty="0"/>
              <a:t>SFTP </a:t>
            </a:r>
            <a:r>
              <a:rPr lang="en-US" dirty="0"/>
              <a:t>– </a:t>
            </a:r>
            <a:r>
              <a:rPr lang="en-US" i="1" dirty="0"/>
              <a:t>Secure File Transfer Protocol (SFTP)</a:t>
            </a:r>
            <a:r>
              <a:rPr lang="en-US" dirty="0"/>
              <a:t>, as its name might suggest, is used to securely transfer files across a network. Data is encrypted and the client and server are authenticated.</a:t>
            </a:r>
          </a:p>
          <a:p>
            <a:pPr algn="just"/>
            <a:r>
              <a:rPr lang="en-US" b="1" dirty="0"/>
              <a:t>HTTPS </a:t>
            </a:r>
            <a:r>
              <a:rPr lang="en-US" dirty="0"/>
              <a:t>– </a:t>
            </a:r>
            <a:r>
              <a:rPr lang="en-US" i="1" dirty="0"/>
              <a:t>Secure Hypertext Transfer Protocol </a:t>
            </a:r>
            <a:r>
              <a:rPr lang="en-US" dirty="0"/>
              <a:t>is the secure version of HTTP. Data sent between the browser and server are encrypted to ensure protection</a:t>
            </a:r>
            <a:r>
              <a:rPr lang="en-US" dirty="0" smtClean="0"/>
              <a:t>. Which </a:t>
            </a:r>
            <a:r>
              <a:rPr lang="en-US" dirty="0"/>
              <a:t>Network Protocol Types are Right for You?</a:t>
            </a:r>
          </a:p>
          <a:p>
            <a:endParaRPr lang="en-IN" dirty="0"/>
          </a:p>
        </p:txBody>
      </p:sp>
    </p:spTree>
    <p:extLst>
      <p:ext uri="{BB962C8B-B14F-4D97-AF65-F5344CB8AC3E}">
        <p14:creationId xmlns:p14="http://schemas.microsoft.com/office/powerpoint/2010/main" val="1660581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634999" y="1690688"/>
            <a:ext cx="11291649" cy="2627312"/>
          </a:xfrm>
          <a:prstGeom prst="rect">
            <a:avLst/>
          </a:prstGeom>
        </p:spPr>
      </p:pic>
    </p:spTree>
    <p:extLst>
      <p:ext uri="{BB962C8B-B14F-4D97-AF65-F5344CB8AC3E}">
        <p14:creationId xmlns:p14="http://schemas.microsoft.com/office/powerpoint/2010/main" val="2825157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Which Protocol is Right for You?</a:t>
            </a:r>
            <a:br>
              <a:rPr lang="en-US" b="1" dirty="0"/>
            </a:br>
            <a:endParaRPr lang="en-IN" dirty="0"/>
          </a:p>
        </p:txBody>
      </p:sp>
      <p:sp>
        <p:nvSpPr>
          <p:cNvPr id="3" name="Content Placeholder 2"/>
          <p:cNvSpPr>
            <a:spLocks noGrp="1"/>
          </p:cNvSpPr>
          <p:nvPr>
            <p:ph idx="1"/>
          </p:nvPr>
        </p:nvSpPr>
        <p:spPr/>
        <p:txBody>
          <a:bodyPr/>
          <a:lstStyle/>
          <a:p>
            <a:pPr algn="just"/>
            <a:r>
              <a:rPr lang="en-US" b="1" dirty="0"/>
              <a:t>For startups and small businesses</a:t>
            </a:r>
            <a:r>
              <a:rPr lang="en-US" dirty="0"/>
              <a:t>, TCP and IP communication protocols are widely used and easy to manage.</a:t>
            </a:r>
          </a:p>
          <a:p>
            <a:pPr algn="just"/>
            <a:r>
              <a:rPr lang="en-US" b="1" dirty="0"/>
              <a:t>For faster, more efficient file transfer</a:t>
            </a:r>
            <a:r>
              <a:rPr lang="en-US" dirty="0"/>
              <a:t>, your business may benefit from using FTP protocols instead of relying on HTTP alone.</a:t>
            </a:r>
          </a:p>
          <a:p>
            <a:pPr algn="just"/>
            <a:r>
              <a:rPr lang="en-US" b="1" dirty="0"/>
              <a:t>For security</a:t>
            </a:r>
            <a:r>
              <a:rPr lang="en-US" dirty="0"/>
              <a:t>, HTTPS is ubiquitous and reliable for data transfer over the network.</a:t>
            </a:r>
          </a:p>
          <a:p>
            <a:pPr algn="just"/>
            <a:r>
              <a:rPr lang="en-US" b="1" dirty="0"/>
              <a:t>When managing networks</a:t>
            </a:r>
            <a:r>
              <a:rPr lang="en-US" dirty="0"/>
              <a:t>, SNMP is still very widely used and is made even more efficient when working in conjunction with communication protocols like UDP.</a:t>
            </a:r>
          </a:p>
          <a:p>
            <a:pPr algn="just"/>
            <a:endParaRPr lang="en-IN" dirty="0"/>
          </a:p>
        </p:txBody>
      </p:sp>
    </p:spTree>
    <p:extLst>
      <p:ext uri="{BB962C8B-B14F-4D97-AF65-F5344CB8AC3E}">
        <p14:creationId xmlns:p14="http://schemas.microsoft.com/office/powerpoint/2010/main" val="2281579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670497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115550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690</Words>
  <Application>Microsoft Office PowerPoint</Application>
  <PresentationFormat>Widescreen</PresentationFormat>
  <Paragraphs>40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Source Sans Pro</vt:lpstr>
      <vt:lpstr>Office Theme</vt:lpstr>
      <vt:lpstr>Networking Protocol</vt:lpstr>
      <vt:lpstr>What is a Network Protocol?</vt:lpstr>
      <vt:lpstr>PowerPoint Presentation</vt:lpstr>
      <vt:lpstr>Types of Network Protocols </vt:lpstr>
      <vt:lpstr>Network Communication Protocols </vt:lpstr>
      <vt:lpstr>PowerPoint Presentation</vt:lpstr>
      <vt:lpstr>PowerPoint Presentation</vt:lpstr>
      <vt:lpstr>PowerPoint Presentation</vt:lpstr>
      <vt:lpstr>Network Management Protocols </vt:lpstr>
      <vt:lpstr>PowerPoint Presentation</vt:lpstr>
      <vt:lpstr>Network Security Protocols </vt:lpstr>
      <vt:lpstr>PowerPoint Presentation</vt:lpstr>
      <vt:lpstr>PowerPoint Presentation</vt:lpstr>
      <vt:lpstr>Which Protocol is Right for You?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Networking</dc:title>
  <dc:creator>LENOVO</dc:creator>
  <cp:lastModifiedBy>LENOVO</cp:lastModifiedBy>
  <cp:revision>18</cp:revision>
  <dcterms:created xsi:type="dcterms:W3CDTF">2025-04-21T09:54:43Z</dcterms:created>
  <dcterms:modified xsi:type="dcterms:W3CDTF">2025-04-21T10:09:20Z</dcterms:modified>
</cp:coreProperties>
</file>